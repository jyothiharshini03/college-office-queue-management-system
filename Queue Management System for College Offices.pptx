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qwaiting.com/99ccf20f9922cc32d3d3b89c873e5fe73d3d1c42.png">    </p:cNvPr>
          <p:cNvPicPr>
            <a:picLocks noChangeAspect="1"/>
          </p:cNvPicPr>
          <p:nvPr/>
        </p:nvPicPr>
        <p:blipFill>
          <a:blip r:embed="rId1"/>
          <a:srcRect l="0" r="0" t="7043" b="704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B4C">
                  <a:alpha val="91000"/>
                </a:srgbClr>
              </a:gs>
              <a:gs pos="50000">
                <a:srgbClr val="1A2B4C">
                  <a:alpha val="82000"/>
                </a:srgbClr>
              </a:gs>
              <a:gs pos="100000">
                <a:srgbClr val="1A2B4C">
                  <a:alpha val="56000"/>
                </a:srgbClr>
              </a:gs>
            </a:gsLst>
            <a:lin ang="5400000" scaled="1"/>
          </a:gradFill>
          <a:ln/>
        </p:spPr>
      </p:sp>
      <p:pic>
        <p:nvPicPr>
          <p:cNvPr id="4" name="Image 1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75500" y="635000"/>
            <a:ext cx="1905000" cy="1905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70000" y="2921000"/>
            <a:ext cx="1371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 MANAGEMENT SYSTEM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4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COLLEGE OFFICES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223000" y="4826000"/>
            <a:ext cx="381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4"/>
          <p:cNvSpPr/>
          <p:nvPr/>
        </p:nvSpPr>
        <p:spPr>
          <a:xfrm>
            <a:off x="2540000" y="5207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Jyothi Harshini M | S Divyasri | P Janaki | PV Lalitha Mani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2540000" y="5715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Pragati Engineering College | CSE Department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524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1905000"/>
            <a:ext cx="7620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Queue Management System for College Offices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web-based application designed to improve the efficiency and organization of administrative services within educational institutions.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traditional systems, students often face long waiting times and overcrowding in offices such as the registrar, accounts, and help desk.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project addresses these challenges by introducing a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token-based system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allows students to join queues remotely and enables administrators to manage service flow effectively.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890000" y="1905000"/>
            <a:ext cx="6604000" cy="647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71000" y="2159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Highlights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271000" y="2730500"/>
            <a:ext cx="584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6"/>
          <p:cNvSpPr/>
          <p:nvPr/>
        </p:nvSpPr>
        <p:spPr>
          <a:xfrm>
            <a:off x="9271000" y="2984500"/>
            <a:ext cx="584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Frontend: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Next.js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Backend: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Supabase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Database: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PostgreSQL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Features: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updates, token generation, admin dashboard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Reduced waiting time, improved transparency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048000" y="635000"/>
            <a:ext cx="177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1905000"/>
            <a:ext cx="7620000" cy="64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many colleges, administrative offices handle a large number of student requests daily, including fee payments, certificate requests, and general inquiries.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queue systems rely on 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b="1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physical presence and manual management</a:t>
            </a:r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which leads to inefficiencies such as long waiting times, confusion, and lack of transparency.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74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the advancement of digital technologies, there is a need to modernize these systems.</a:t>
            </a:r>
            <a:endParaRPr lang="en-US" sz="1800" dirty="0"/>
          </a:p>
        </p:txBody>
      </p:sp>
      <p:pic>
        <p:nvPicPr>
          <p:cNvPr id="16" name="Image 1" descr="https://kimi-web-img.moonshot.cn/img/blog.qwaiting.com/7ae6b8ce772b79555d15e5c32bb0d924f65e9310.jpg">    </p:cNvPr>
          <p:cNvPicPr>
            <a:picLocks noChangeAspect="1"/>
          </p:cNvPicPr>
          <p:nvPr/>
        </p:nvPicPr>
        <p:blipFill>
          <a:blip r:embed="rId2"/>
          <a:srcRect l="13078" r="13078" t="0" b="0"/>
          <a:stretch/>
        </p:blipFill>
        <p:spPr>
          <a:xfrm>
            <a:off x="8890000" y="1905000"/>
            <a:ext cx="6604000" cy="4318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890000" y="6477000"/>
            <a:ext cx="6604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890000" y="6477000"/>
            <a:ext cx="50800" cy="1905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5"/>
          <p:cNvSpPr/>
          <p:nvPr/>
        </p:nvSpPr>
        <p:spPr>
          <a:xfrm>
            <a:off x="9271000" y="6604000"/>
            <a:ext cx="584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proposed system replaces manual processes with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and user-friendly solution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allowing students to generate tokens online and track their position in the queue.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26000" y="635000"/>
            <a:ext cx="177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1905000"/>
            <a:ext cx="4699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Waiting Time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a digital queue system to reduce student waiting times.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785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78500" y="1905000"/>
            <a:ext cx="4699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8"/>
          <p:cNvSpPr/>
          <p:nvPr/>
        </p:nvSpPr>
        <p:spPr>
          <a:xfrm>
            <a:off x="5981700" y="2222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60325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Crowding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physical crowding in administrative areas.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950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795000" y="1905000"/>
            <a:ext cx="4699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2"/>
          <p:cNvSpPr/>
          <p:nvPr/>
        </p:nvSpPr>
        <p:spPr>
          <a:xfrm>
            <a:off x="11023600" y="2222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25400"/>
                </a:moveTo>
                <a:cubicBezTo>
                  <a:pt x="164465" y="25400"/>
                  <a:pt x="113109" y="54610"/>
                  <a:pt x="75724" y="89376"/>
                </a:cubicBezTo>
                <a:cubicBezTo>
                  <a:pt x="38576" y="123904"/>
                  <a:pt x="13732" y="165100"/>
                  <a:pt x="1905" y="193437"/>
                </a:cubicBezTo>
                <a:cubicBezTo>
                  <a:pt x="-714" y="199708"/>
                  <a:pt x="-714" y="206692"/>
                  <a:pt x="1905" y="212963"/>
                </a:cubicBezTo>
                <a:cubicBezTo>
                  <a:pt x="13732" y="241300"/>
                  <a:pt x="38576" y="282575"/>
                  <a:pt x="75724" y="317024"/>
                </a:cubicBezTo>
                <a:cubicBezTo>
                  <a:pt x="113109" y="351711"/>
                  <a:pt x="164465" y="381000"/>
                  <a:pt x="228600" y="381000"/>
                </a:cubicBezTo>
                <a:cubicBezTo>
                  <a:pt x="292735" y="381000"/>
                  <a:pt x="344091" y="351790"/>
                  <a:pt x="381476" y="317024"/>
                </a:cubicBezTo>
                <a:cubicBezTo>
                  <a:pt x="418624" y="282496"/>
                  <a:pt x="443468" y="241300"/>
                  <a:pt x="455295" y="212963"/>
                </a:cubicBezTo>
                <a:cubicBezTo>
                  <a:pt x="457914" y="206692"/>
                  <a:pt x="457914" y="199707"/>
                  <a:pt x="455295" y="193437"/>
                </a:cubicBezTo>
                <a:cubicBezTo>
                  <a:pt x="443468" y="165100"/>
                  <a:pt x="418624" y="123825"/>
                  <a:pt x="381476" y="89376"/>
                </a:cubicBezTo>
                <a:cubicBezTo>
                  <a:pt x="344091" y="54689"/>
                  <a:pt x="292735" y="25400"/>
                  <a:pt x="228600" y="25400"/>
                </a:cubicBezTo>
                <a:close/>
                <a:moveTo>
                  <a:pt x="114300" y="203200"/>
                </a:moveTo>
                <a:cubicBezTo>
                  <a:pt x="114300" y="140116"/>
                  <a:pt x="165516" y="88900"/>
                  <a:pt x="228600" y="88900"/>
                </a:cubicBezTo>
                <a:cubicBezTo>
                  <a:pt x="291684" y="88900"/>
                  <a:pt x="342900" y="140116"/>
                  <a:pt x="342900" y="203200"/>
                </a:cubicBezTo>
                <a:cubicBezTo>
                  <a:pt x="342900" y="266284"/>
                  <a:pt x="291684" y="317500"/>
                  <a:pt x="228600" y="317500"/>
                </a:cubicBezTo>
                <a:cubicBezTo>
                  <a:pt x="165516" y="317500"/>
                  <a:pt x="114300" y="266284"/>
                  <a:pt x="114300" y="203200"/>
                </a:cubicBezTo>
                <a:close/>
                <a:moveTo>
                  <a:pt x="228600" y="152400"/>
                </a:moveTo>
                <a:cubicBezTo>
                  <a:pt x="228600" y="180419"/>
                  <a:pt x="205819" y="203200"/>
                  <a:pt x="177800" y="203200"/>
                </a:cubicBezTo>
                <a:cubicBezTo>
                  <a:pt x="168672" y="203200"/>
                  <a:pt x="160099" y="200819"/>
                  <a:pt x="152638" y="196533"/>
                </a:cubicBezTo>
                <a:cubicBezTo>
                  <a:pt x="151844" y="205184"/>
                  <a:pt x="152559" y="214074"/>
                  <a:pt x="154940" y="222885"/>
                </a:cubicBezTo>
                <a:cubicBezTo>
                  <a:pt x="165814" y="263525"/>
                  <a:pt x="207645" y="287655"/>
                  <a:pt x="248285" y="276781"/>
                </a:cubicBezTo>
                <a:cubicBezTo>
                  <a:pt x="288925" y="265906"/>
                  <a:pt x="313055" y="224076"/>
                  <a:pt x="302181" y="183436"/>
                </a:cubicBezTo>
                <a:cubicBezTo>
                  <a:pt x="292497" y="147161"/>
                  <a:pt x="258128" y="124063"/>
                  <a:pt x="221933" y="127238"/>
                </a:cubicBezTo>
                <a:cubicBezTo>
                  <a:pt x="226139" y="134620"/>
                  <a:pt x="228600" y="143193"/>
                  <a:pt x="228600" y="152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1049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Transparency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 transparent and organized method of handling requests.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5334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2000" y="5334000"/>
            <a:ext cx="4699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Shape 26"/>
          <p:cNvSpPr/>
          <p:nvPr/>
        </p:nvSpPr>
        <p:spPr>
          <a:xfrm>
            <a:off x="1016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0" name="Text 27"/>
          <p:cNvSpPr/>
          <p:nvPr/>
        </p:nvSpPr>
        <p:spPr>
          <a:xfrm>
            <a:off x="1016000" y="6223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Dashboard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administrators to manage queues efficiently.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78500" y="5334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78500" y="5334000"/>
            <a:ext cx="4699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Shape 30"/>
          <p:cNvSpPr/>
          <p:nvPr/>
        </p:nvSpPr>
        <p:spPr>
          <a:xfrm>
            <a:off x="6057900" y="5651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6032500" y="6223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 Management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 records of completed tokens for future analysis.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795000" y="5334000"/>
            <a:ext cx="4699000" cy="3048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36" name="Text 33"/>
          <p:cNvSpPr/>
          <p:nvPr/>
        </p:nvSpPr>
        <p:spPr>
          <a:xfrm>
            <a:off x="11049000" y="55880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Goal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implement an efficient queue management system that enhances the overall functioning of college administrative offices.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604000" y="635000"/>
            <a:ext cx="228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2032000"/>
            <a:ext cx="4318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2032000"/>
            <a:ext cx="4318000" cy="635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7" name="Text 14"/>
          <p:cNvSpPr/>
          <p:nvPr/>
        </p:nvSpPr>
        <p:spPr>
          <a:xfrm>
            <a:off x="762000" y="2032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SIDE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540000" y="2921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523875"/>
                </a:lnTo>
                <a:cubicBezTo>
                  <a:pt x="0" y="576411"/>
                  <a:pt x="42714" y="619125"/>
                  <a:pt x="95250" y="619125"/>
                </a:cubicBezTo>
                <a:lnTo>
                  <a:pt x="309563" y="619125"/>
                </a:lnTo>
                <a:lnTo>
                  <a:pt x="285750" y="690563"/>
                </a:lnTo>
                <a:lnTo>
                  <a:pt x="178594" y="690563"/>
                </a:lnTo>
                <a:cubicBezTo>
                  <a:pt x="158800" y="690563"/>
                  <a:pt x="142875" y="706487"/>
                  <a:pt x="142875" y="726281"/>
                </a:cubicBezTo>
                <a:cubicBezTo>
                  <a:pt x="142875" y="746075"/>
                  <a:pt x="158800" y="762000"/>
                  <a:pt x="178594" y="762000"/>
                </a:cubicBezTo>
                <a:lnTo>
                  <a:pt x="583406" y="762000"/>
                </a:lnTo>
                <a:cubicBezTo>
                  <a:pt x="603200" y="762000"/>
                  <a:pt x="619125" y="746075"/>
                  <a:pt x="619125" y="726281"/>
                </a:cubicBezTo>
                <a:cubicBezTo>
                  <a:pt x="619125" y="706487"/>
                  <a:pt x="603200" y="690563"/>
                  <a:pt x="583406" y="690563"/>
                </a:cubicBezTo>
                <a:lnTo>
                  <a:pt x="476250" y="690563"/>
                </a:lnTo>
                <a:lnTo>
                  <a:pt x="452438" y="619125"/>
                </a:lnTo>
                <a:lnTo>
                  <a:pt x="666750" y="619125"/>
                </a:lnTo>
                <a:cubicBezTo>
                  <a:pt x="719286" y="619125"/>
                  <a:pt x="762000" y="576411"/>
                  <a:pt x="762000" y="523875"/>
                </a:cubicBezTo>
                <a:lnTo>
                  <a:pt x="762000" y="142875"/>
                </a:lnTo>
                <a:cubicBezTo>
                  <a:pt x="762000" y="90339"/>
                  <a:pt x="719286" y="47625"/>
                  <a:pt x="666750" y="47625"/>
                </a:cubicBezTo>
                <a:lnTo>
                  <a:pt x="95250" y="47625"/>
                </a:lnTo>
                <a:close/>
                <a:moveTo>
                  <a:pt x="142875" y="142875"/>
                </a:moveTo>
                <a:lnTo>
                  <a:pt x="619125" y="142875"/>
                </a:lnTo>
                <a:cubicBezTo>
                  <a:pt x="645468" y="142875"/>
                  <a:pt x="666750" y="164157"/>
                  <a:pt x="666750" y="190500"/>
                </a:cubicBezTo>
                <a:lnTo>
                  <a:pt x="666750" y="428625"/>
                </a:lnTo>
                <a:cubicBezTo>
                  <a:pt x="666750" y="454968"/>
                  <a:pt x="645468" y="476250"/>
                  <a:pt x="619125" y="476250"/>
                </a:cubicBezTo>
                <a:lnTo>
                  <a:pt x="142875" y="476250"/>
                </a:lnTo>
                <a:cubicBezTo>
                  <a:pt x="116532" y="476250"/>
                  <a:pt x="95250" y="454968"/>
                  <a:pt x="95250" y="428625"/>
                </a:cubicBezTo>
                <a:lnTo>
                  <a:pt x="95250" y="190500"/>
                </a:lnTo>
                <a:cubicBezTo>
                  <a:pt x="95250" y="164157"/>
                  <a:pt x="116532" y="142875"/>
                  <a:pt x="142875" y="1428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3937000"/>
            <a:ext cx="381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Next.js Frontend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 for students and administrators.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can generate tokens, while administrators can manage queues and view history.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80000" y="48260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1" name="Shape 18"/>
          <p:cNvSpPr/>
          <p:nvPr/>
        </p:nvSpPr>
        <p:spPr>
          <a:xfrm>
            <a:off x="5842000" y="2032000"/>
            <a:ext cx="4318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42000" y="2032000"/>
            <a:ext cx="4318000" cy="635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3" name="Text 20"/>
          <p:cNvSpPr/>
          <p:nvPr/>
        </p:nvSpPr>
        <p:spPr>
          <a:xfrm>
            <a:off x="5842000" y="2032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SIDE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67625" y="2921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47625"/>
                </a:moveTo>
                <a:cubicBezTo>
                  <a:pt x="42714" y="47625"/>
                  <a:pt x="0" y="90339"/>
                  <a:pt x="0" y="142875"/>
                </a:cubicBezTo>
                <a:lnTo>
                  <a:pt x="0" y="238125"/>
                </a:lnTo>
                <a:cubicBezTo>
                  <a:pt x="0" y="290661"/>
                  <a:pt x="42714" y="333375"/>
                  <a:pt x="95250" y="333375"/>
                </a:cubicBezTo>
                <a:lnTo>
                  <a:pt x="571500" y="333375"/>
                </a:lnTo>
                <a:cubicBezTo>
                  <a:pt x="624036" y="333375"/>
                  <a:pt x="666750" y="290661"/>
                  <a:pt x="666750" y="238125"/>
                </a:cubicBezTo>
                <a:lnTo>
                  <a:pt x="666750" y="142875"/>
                </a:lnTo>
                <a:cubicBezTo>
                  <a:pt x="666750" y="90339"/>
                  <a:pt x="624036" y="47625"/>
                  <a:pt x="571500" y="47625"/>
                </a:cubicBezTo>
                <a:lnTo>
                  <a:pt x="95250" y="47625"/>
                </a:lnTo>
                <a:close/>
                <a:moveTo>
                  <a:pt x="416719" y="154781"/>
                </a:moveTo>
                <a:cubicBezTo>
                  <a:pt x="436432" y="154781"/>
                  <a:pt x="452438" y="170786"/>
                  <a:pt x="452438" y="190500"/>
                </a:cubicBezTo>
                <a:cubicBezTo>
                  <a:pt x="452438" y="210214"/>
                  <a:pt x="436432" y="226219"/>
                  <a:pt x="416719" y="226219"/>
                </a:cubicBezTo>
                <a:cubicBezTo>
                  <a:pt x="397005" y="226219"/>
                  <a:pt x="381000" y="210214"/>
                  <a:pt x="381000" y="190500"/>
                </a:cubicBezTo>
                <a:cubicBezTo>
                  <a:pt x="381000" y="170786"/>
                  <a:pt x="397005" y="154781"/>
                  <a:pt x="416719" y="154781"/>
                </a:cubicBezTo>
                <a:close/>
                <a:moveTo>
                  <a:pt x="500063" y="190500"/>
                </a:moveTo>
                <a:cubicBezTo>
                  <a:pt x="500063" y="170786"/>
                  <a:pt x="516068" y="154781"/>
                  <a:pt x="535781" y="154781"/>
                </a:cubicBezTo>
                <a:cubicBezTo>
                  <a:pt x="555495" y="154781"/>
                  <a:pt x="571500" y="170786"/>
                  <a:pt x="571500" y="190500"/>
                </a:cubicBezTo>
                <a:cubicBezTo>
                  <a:pt x="571500" y="210214"/>
                  <a:pt x="555495" y="226219"/>
                  <a:pt x="535781" y="226219"/>
                </a:cubicBezTo>
                <a:cubicBezTo>
                  <a:pt x="516068" y="226219"/>
                  <a:pt x="500063" y="210214"/>
                  <a:pt x="500063" y="190500"/>
                </a:cubicBezTo>
                <a:close/>
                <a:moveTo>
                  <a:pt x="95250" y="428625"/>
                </a:moveTo>
                <a:cubicBezTo>
                  <a:pt x="42714" y="428625"/>
                  <a:pt x="0" y="471339"/>
                  <a:pt x="0" y="523875"/>
                </a:cubicBezTo>
                <a:lnTo>
                  <a:pt x="0" y="619125"/>
                </a:lnTo>
                <a:cubicBezTo>
                  <a:pt x="0" y="671661"/>
                  <a:pt x="42714" y="714375"/>
                  <a:pt x="95250" y="714375"/>
                </a:cubicBezTo>
                <a:lnTo>
                  <a:pt x="571500" y="714375"/>
                </a:lnTo>
                <a:cubicBezTo>
                  <a:pt x="624036" y="714375"/>
                  <a:pt x="666750" y="671661"/>
                  <a:pt x="666750" y="619125"/>
                </a:cubicBezTo>
                <a:lnTo>
                  <a:pt x="666750" y="523875"/>
                </a:lnTo>
                <a:cubicBezTo>
                  <a:pt x="666750" y="471339"/>
                  <a:pt x="624036" y="428625"/>
                  <a:pt x="571500" y="428625"/>
                </a:cubicBezTo>
                <a:lnTo>
                  <a:pt x="95250" y="428625"/>
                </a:lnTo>
                <a:close/>
                <a:moveTo>
                  <a:pt x="416719" y="535781"/>
                </a:moveTo>
                <a:cubicBezTo>
                  <a:pt x="436432" y="535781"/>
                  <a:pt x="452438" y="551786"/>
                  <a:pt x="452438" y="571500"/>
                </a:cubicBezTo>
                <a:cubicBezTo>
                  <a:pt x="452438" y="591214"/>
                  <a:pt x="436432" y="607219"/>
                  <a:pt x="416719" y="607219"/>
                </a:cubicBezTo>
                <a:cubicBezTo>
                  <a:pt x="397005" y="607219"/>
                  <a:pt x="381000" y="591214"/>
                  <a:pt x="381000" y="571500"/>
                </a:cubicBezTo>
                <a:cubicBezTo>
                  <a:pt x="381000" y="551786"/>
                  <a:pt x="397005" y="535781"/>
                  <a:pt x="416719" y="535781"/>
                </a:cubicBezTo>
                <a:close/>
                <a:moveTo>
                  <a:pt x="500063" y="571500"/>
                </a:moveTo>
                <a:cubicBezTo>
                  <a:pt x="500063" y="551786"/>
                  <a:pt x="516068" y="535781"/>
                  <a:pt x="535781" y="535781"/>
                </a:cubicBezTo>
                <a:cubicBezTo>
                  <a:pt x="555495" y="535781"/>
                  <a:pt x="571500" y="551786"/>
                  <a:pt x="571500" y="571500"/>
                </a:cubicBezTo>
                <a:cubicBezTo>
                  <a:pt x="571500" y="591214"/>
                  <a:pt x="555495" y="607219"/>
                  <a:pt x="535781" y="607219"/>
                </a:cubicBezTo>
                <a:cubicBezTo>
                  <a:pt x="516068" y="607219"/>
                  <a:pt x="500063" y="591214"/>
                  <a:pt x="500063" y="5715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6096000" y="3937000"/>
            <a:ext cx="3810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Backend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database operations: inserting, updating, and retrieving token data.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synchronization and secure storage.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0" y="4826000"/>
            <a:ext cx="76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7" name="Shape 24"/>
          <p:cNvSpPr/>
          <p:nvPr/>
        </p:nvSpPr>
        <p:spPr>
          <a:xfrm>
            <a:off x="10922000" y="2032000"/>
            <a:ext cx="4572000" cy="609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922000" y="2032000"/>
            <a:ext cx="4572000" cy="635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9" name="Text 26"/>
          <p:cNvSpPr/>
          <p:nvPr/>
        </p:nvSpPr>
        <p:spPr>
          <a:xfrm>
            <a:off x="10922000" y="2032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2874625" y="2921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666750" y="306288"/>
                </a:moveTo>
                <a:cubicBezTo>
                  <a:pt x="644723" y="320873"/>
                  <a:pt x="619423" y="332631"/>
                  <a:pt x="593080" y="342007"/>
                </a:cubicBezTo>
                <a:cubicBezTo>
                  <a:pt x="523131" y="367010"/>
                  <a:pt x="431304" y="381000"/>
                  <a:pt x="333375" y="381000"/>
                </a:cubicBezTo>
                <a:cubicBezTo>
                  <a:pt x="235446" y="381000"/>
                  <a:pt x="143470" y="366861"/>
                  <a:pt x="73670" y="342007"/>
                </a:cubicBezTo>
                <a:cubicBezTo>
                  <a:pt x="47476" y="332631"/>
                  <a:pt x="22027" y="320873"/>
                  <a:pt x="0" y="306288"/>
                </a:cubicBezTo>
                <a:lnTo>
                  <a:pt x="0" y="428625"/>
                </a:lnTo>
                <a:cubicBezTo>
                  <a:pt x="0" y="494407"/>
                  <a:pt x="149275" y="547687"/>
                  <a:pt x="333375" y="547687"/>
                </a:cubicBezTo>
                <a:cubicBezTo>
                  <a:pt x="517475" y="547687"/>
                  <a:pt x="666750" y="494407"/>
                  <a:pt x="666750" y="428625"/>
                </a:cubicBezTo>
                <a:lnTo>
                  <a:pt x="666750" y="306288"/>
                </a:lnTo>
                <a:close/>
                <a:moveTo>
                  <a:pt x="666750" y="190500"/>
                </a:moveTo>
                <a:lnTo>
                  <a:pt x="666750" y="119063"/>
                </a:lnTo>
                <a:cubicBezTo>
                  <a:pt x="666750" y="53280"/>
                  <a:pt x="517475" y="0"/>
                  <a:pt x="333375" y="0"/>
                </a:cubicBezTo>
                <a:cubicBezTo>
                  <a:pt x="149275" y="0"/>
                  <a:pt x="0" y="53280"/>
                  <a:pt x="0" y="119063"/>
                </a:cubicBezTo>
                <a:lnTo>
                  <a:pt x="0" y="190500"/>
                </a:lnTo>
                <a:cubicBezTo>
                  <a:pt x="0" y="256282"/>
                  <a:pt x="149275" y="309563"/>
                  <a:pt x="333375" y="309563"/>
                </a:cubicBezTo>
                <a:cubicBezTo>
                  <a:pt x="517475" y="309563"/>
                  <a:pt x="666750" y="256282"/>
                  <a:pt x="666750" y="190500"/>
                </a:cubicBezTo>
                <a:close/>
                <a:moveTo>
                  <a:pt x="593080" y="580132"/>
                </a:moveTo>
                <a:cubicBezTo>
                  <a:pt x="523280" y="604986"/>
                  <a:pt x="431453" y="619125"/>
                  <a:pt x="333375" y="619125"/>
                </a:cubicBezTo>
                <a:cubicBezTo>
                  <a:pt x="235297" y="619125"/>
                  <a:pt x="143470" y="604986"/>
                  <a:pt x="73670" y="580132"/>
                </a:cubicBezTo>
                <a:cubicBezTo>
                  <a:pt x="47476" y="570756"/>
                  <a:pt x="22027" y="558998"/>
                  <a:pt x="0" y="544413"/>
                </a:cubicBezTo>
                <a:lnTo>
                  <a:pt x="0" y="642938"/>
                </a:lnTo>
                <a:cubicBezTo>
                  <a:pt x="0" y="708720"/>
                  <a:pt x="149275" y="762000"/>
                  <a:pt x="333375" y="762000"/>
                </a:cubicBezTo>
                <a:cubicBezTo>
                  <a:pt x="517475" y="762000"/>
                  <a:pt x="666750" y="708720"/>
                  <a:pt x="666750" y="642938"/>
                </a:cubicBezTo>
                <a:lnTo>
                  <a:pt x="666750" y="544413"/>
                </a:lnTo>
                <a:cubicBezTo>
                  <a:pt x="644723" y="558998"/>
                  <a:pt x="619423" y="570756"/>
                  <a:pt x="593080" y="58013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11176000" y="39370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Database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all token information including status and timestamps.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 ensure immediate UI reflection.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890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425" y="215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171450"/>
                </a:lnTo>
                <a:cubicBezTo>
                  <a:pt x="0" y="179308"/>
                  <a:pt x="6608" y="185470"/>
                  <a:pt x="14020" y="188059"/>
                </a:cubicBezTo>
                <a:cubicBezTo>
                  <a:pt x="30807" y="193864"/>
                  <a:pt x="42863" y="209848"/>
                  <a:pt x="42863" y="228600"/>
                </a:cubicBezTo>
                <a:cubicBezTo>
                  <a:pt x="42863" y="247352"/>
                  <a:pt x="30807" y="263336"/>
                  <a:pt x="14020" y="269141"/>
                </a:cubicBezTo>
                <a:cubicBezTo>
                  <a:pt x="6608" y="271730"/>
                  <a:pt x="0" y="277892"/>
                  <a:pt x="0" y="285750"/>
                </a:cubicBez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57200" y="400050"/>
                </a:lnTo>
                <a:cubicBezTo>
                  <a:pt x="488722" y="400050"/>
                  <a:pt x="514350" y="374422"/>
                  <a:pt x="514350" y="342900"/>
                </a:cubicBezTo>
                <a:lnTo>
                  <a:pt x="514350" y="285750"/>
                </a:lnTo>
                <a:cubicBezTo>
                  <a:pt x="514350" y="277892"/>
                  <a:pt x="507742" y="271730"/>
                  <a:pt x="500330" y="269141"/>
                </a:cubicBezTo>
                <a:cubicBezTo>
                  <a:pt x="483543" y="263336"/>
                  <a:pt x="471488" y="247352"/>
                  <a:pt x="471488" y="228600"/>
                </a:cubicBezTo>
                <a:cubicBezTo>
                  <a:pt x="471488" y="209848"/>
                  <a:pt x="483543" y="193864"/>
                  <a:pt x="500330" y="188059"/>
                </a:cubicBezTo>
                <a:cubicBezTo>
                  <a:pt x="507742" y="185470"/>
                  <a:pt x="514350" y="179308"/>
                  <a:pt x="514350" y="171450"/>
                </a:cubicBezTo>
                <a:lnTo>
                  <a:pt x="514350" y="114300"/>
                </a:lnTo>
                <a:cubicBezTo>
                  <a:pt x="514350" y="82778"/>
                  <a:pt x="488722" y="57150"/>
                  <a:pt x="457200" y="57150"/>
                </a:cubicBezTo>
                <a:lnTo>
                  <a:pt x="57150" y="57150"/>
                </a:lnTo>
                <a:close/>
                <a:moveTo>
                  <a:pt x="371475" y="300038"/>
                </a:moveTo>
                <a:lnTo>
                  <a:pt x="371475" y="157163"/>
                </a:lnTo>
                <a:lnTo>
                  <a:pt x="142875" y="157163"/>
                </a:lnTo>
                <a:lnTo>
                  <a:pt x="142875" y="300038"/>
                </a:lnTo>
                <a:lnTo>
                  <a:pt x="371475" y="300038"/>
                </a:lnTo>
                <a:close/>
                <a:moveTo>
                  <a:pt x="100013" y="142875"/>
                </a:moveTo>
                <a:cubicBezTo>
                  <a:pt x="100013" y="127069"/>
                  <a:pt x="112782" y="114300"/>
                  <a:pt x="128588" y="114300"/>
                </a:cubicBezTo>
                <a:lnTo>
                  <a:pt x="385763" y="114300"/>
                </a:lnTo>
                <a:cubicBezTo>
                  <a:pt x="401568" y="114300"/>
                  <a:pt x="414338" y="127069"/>
                  <a:pt x="414338" y="142875"/>
                </a:cubicBezTo>
                <a:lnTo>
                  <a:pt x="414338" y="314325"/>
                </a:lnTo>
                <a:cubicBezTo>
                  <a:pt x="414338" y="330131"/>
                  <a:pt x="401568" y="342900"/>
                  <a:pt x="385763" y="342900"/>
                </a:cubicBezTo>
                <a:lnTo>
                  <a:pt x="128588" y="342900"/>
                </a:lnTo>
                <a:cubicBezTo>
                  <a:pt x="112782" y="342900"/>
                  <a:pt x="100013" y="330131"/>
                  <a:pt x="100013" y="314325"/>
                </a:cubicBezTo>
                <a:lnTo>
                  <a:pt x="100013" y="1428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Token Generation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can generate tokens online without physically standing in line.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785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25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60325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Token Numbers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token is assigned a unique number for easy identification.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795000" y="1905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049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9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 Dashboard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Administrators can call, complete, or manage tokens from a central view.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5334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4575" y="5588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1016000" y="6223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Updates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are always aware of their queue status with live updates.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778500" y="5334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03925" y="5588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57150"/>
                </a:moveTo>
                <a:cubicBezTo>
                  <a:pt x="351830" y="57150"/>
                  <a:pt x="428625" y="133945"/>
                  <a:pt x="428625" y="228600"/>
                </a:cubicBezTo>
                <a:cubicBezTo>
                  <a:pt x="428625" y="323255"/>
                  <a:pt x="351830" y="400050"/>
                  <a:pt x="257175" y="400050"/>
                </a:cubicBezTo>
                <a:cubicBezTo>
                  <a:pt x="198953" y="400050"/>
                  <a:pt x="147429" y="371029"/>
                  <a:pt x="116443" y="326559"/>
                </a:cubicBezTo>
                <a:cubicBezTo>
                  <a:pt x="107424" y="313611"/>
                  <a:pt x="89565" y="310485"/>
                  <a:pt x="76617" y="319504"/>
                </a:cubicBezTo>
                <a:cubicBezTo>
                  <a:pt x="63669" y="328523"/>
                  <a:pt x="60543" y="346383"/>
                  <a:pt x="69562" y="359331"/>
                </a:cubicBezTo>
                <a:cubicBezTo>
                  <a:pt x="110817" y="418445"/>
                  <a:pt x="179487" y="457200"/>
                  <a:pt x="257175" y="457200"/>
                </a:cubicBezTo>
                <a:cubicBezTo>
                  <a:pt x="383441" y="457200"/>
                  <a:pt x="485775" y="354866"/>
                  <a:pt x="485775" y="228600"/>
                </a:cubicBezTo>
                <a:cubicBezTo>
                  <a:pt x="485775" y="102334"/>
                  <a:pt x="383441" y="0"/>
                  <a:pt x="257175" y="0"/>
                </a:cubicBezTo>
                <a:cubicBezTo>
                  <a:pt x="180648" y="0"/>
                  <a:pt x="112961" y="37594"/>
                  <a:pt x="71438" y="95280"/>
                </a:cubicBezTo>
                <a:lnTo>
                  <a:pt x="71438" y="71438"/>
                </a:lnTo>
                <a:cubicBezTo>
                  <a:pt x="71438" y="55632"/>
                  <a:pt x="58668" y="42863"/>
                  <a:pt x="42863" y="42863"/>
                </a:cubicBezTo>
                <a:cubicBezTo>
                  <a:pt x="27057" y="42863"/>
                  <a:pt x="14288" y="55632"/>
                  <a:pt x="14288" y="71438"/>
                </a:cubicBezTo>
                <a:lnTo>
                  <a:pt x="14288" y="171450"/>
                </a:lnTo>
                <a:cubicBezTo>
                  <a:pt x="14288" y="187256"/>
                  <a:pt x="27057" y="200025"/>
                  <a:pt x="42863" y="200025"/>
                </a:cubicBezTo>
                <a:lnTo>
                  <a:pt x="64830" y="200025"/>
                </a:lnTo>
                <a:cubicBezTo>
                  <a:pt x="65276" y="200025"/>
                  <a:pt x="65723" y="200025"/>
                  <a:pt x="66169" y="200025"/>
                </a:cubicBezTo>
                <a:lnTo>
                  <a:pt x="142964" y="200025"/>
                </a:lnTo>
                <a:cubicBezTo>
                  <a:pt x="158770" y="200025"/>
                  <a:pt x="171539" y="187256"/>
                  <a:pt x="171539" y="171450"/>
                </a:cubicBezTo>
                <a:cubicBezTo>
                  <a:pt x="171539" y="155644"/>
                  <a:pt x="158770" y="142875"/>
                  <a:pt x="142964" y="142875"/>
                </a:cubicBezTo>
                <a:lnTo>
                  <a:pt x="108764" y="142875"/>
                </a:lnTo>
                <a:cubicBezTo>
                  <a:pt x="138321" y="91619"/>
                  <a:pt x="193774" y="57150"/>
                  <a:pt x="257175" y="57150"/>
                </a:cubicBezTo>
                <a:close/>
                <a:moveTo>
                  <a:pt x="278606" y="135731"/>
                </a:moveTo>
                <a:cubicBezTo>
                  <a:pt x="278606" y="123855"/>
                  <a:pt x="269051" y="114300"/>
                  <a:pt x="257175" y="114300"/>
                </a:cubicBezTo>
                <a:cubicBezTo>
                  <a:pt x="245299" y="114300"/>
                  <a:pt x="235744" y="123855"/>
                  <a:pt x="235744" y="135731"/>
                </a:cubicBezTo>
                <a:lnTo>
                  <a:pt x="235744" y="228600"/>
                </a:lnTo>
                <a:cubicBezTo>
                  <a:pt x="235744" y="234315"/>
                  <a:pt x="237976" y="239762"/>
                  <a:pt x="241995" y="243780"/>
                </a:cubicBezTo>
                <a:lnTo>
                  <a:pt x="306288" y="308074"/>
                </a:lnTo>
                <a:cubicBezTo>
                  <a:pt x="314682" y="316468"/>
                  <a:pt x="328255" y="316468"/>
                  <a:pt x="336560" y="308074"/>
                </a:cubicBezTo>
                <a:cubicBezTo>
                  <a:pt x="344865" y="299680"/>
                  <a:pt x="344954" y="286107"/>
                  <a:pt x="336560" y="277803"/>
                </a:cubicBezTo>
                <a:lnTo>
                  <a:pt x="278517" y="219760"/>
                </a:lnTo>
                <a:lnTo>
                  <a:pt x="278517" y="13573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6032500" y="6223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History Tracking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 tokens are stored for tracking and analysis.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795000" y="5334000"/>
            <a:ext cx="4699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049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2" name="Text 29"/>
          <p:cNvSpPr/>
          <p:nvPr/>
        </p:nvSpPr>
        <p:spPr>
          <a:xfrm>
            <a:off x="11049000" y="6223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Multi-Service Support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different administrative needs across offices.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414000" y="635000"/>
            <a:ext cx="1778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uses a relational database to store queue-related data. The main table is the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71809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14732000" cy="5842000"/>
        </p:xfrm>
        <a:graphic>
          <a:graphicData uri="http://schemas.openxmlformats.org/drawingml/2006/table">
            <a:tbl>
              <a:tblPr/>
              <a:tblGrid>
                <a:gridCol w="3683000"/>
                <a:gridCol w="4419600"/>
                <a:gridCol w="6629400"/>
              </a:tblGrid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Field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C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UUID (Primary Key)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Unique identifier for each token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token_number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generated token 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 of the student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roll_number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Student's roll 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Enum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pending / active / completed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created_at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Timestamp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the token was generated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completed_at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Timestamp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D374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the service was completed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192000" y="635000"/>
            <a:ext cx="2032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1905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00" y="1905000"/>
            <a:ext cx="50800" cy="304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4"/>
          <p:cNvSpPr/>
          <p:nvPr/>
        </p:nvSpPr>
        <p:spPr>
          <a:xfrm>
            <a:off x="10541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86385" y="953"/>
                </a:moveTo>
                <a:cubicBezTo>
                  <a:pt x="272891" y="-2937"/>
                  <a:pt x="258842" y="4921"/>
                  <a:pt x="254953" y="18415"/>
                </a:cubicBezTo>
                <a:lnTo>
                  <a:pt x="153353" y="374015"/>
                </a:lnTo>
                <a:cubicBezTo>
                  <a:pt x="149463" y="387509"/>
                  <a:pt x="157321" y="401558"/>
                  <a:pt x="170815" y="405448"/>
                </a:cubicBezTo>
                <a:cubicBezTo>
                  <a:pt x="184309" y="409337"/>
                  <a:pt x="198358" y="401479"/>
                  <a:pt x="202248" y="387985"/>
                </a:cubicBezTo>
                <a:lnTo>
                  <a:pt x="303848" y="32385"/>
                </a:lnTo>
                <a:cubicBezTo>
                  <a:pt x="307737" y="18891"/>
                  <a:pt x="299879" y="4842"/>
                  <a:pt x="286385" y="953"/>
                </a:cubicBezTo>
                <a:close/>
                <a:moveTo>
                  <a:pt x="337661" y="108982"/>
                </a:moveTo>
                <a:cubicBezTo>
                  <a:pt x="327739" y="118904"/>
                  <a:pt x="327739" y="135017"/>
                  <a:pt x="337661" y="144939"/>
                </a:cubicBezTo>
                <a:lnTo>
                  <a:pt x="395922" y="203200"/>
                </a:lnTo>
                <a:lnTo>
                  <a:pt x="337661" y="261461"/>
                </a:lnTo>
                <a:cubicBezTo>
                  <a:pt x="327739" y="271383"/>
                  <a:pt x="327739" y="287496"/>
                  <a:pt x="337661" y="297418"/>
                </a:cubicBezTo>
                <a:cubicBezTo>
                  <a:pt x="347583" y="307340"/>
                  <a:pt x="363696" y="307340"/>
                  <a:pt x="373618" y="297418"/>
                </a:cubicBezTo>
                <a:lnTo>
                  <a:pt x="449818" y="221218"/>
                </a:lnTo>
                <a:cubicBezTo>
                  <a:pt x="459740" y="211296"/>
                  <a:pt x="459740" y="195183"/>
                  <a:pt x="449818" y="185261"/>
                </a:cubicBezTo>
                <a:lnTo>
                  <a:pt x="373618" y="109061"/>
                </a:lnTo>
                <a:cubicBezTo>
                  <a:pt x="363696" y="99139"/>
                  <a:pt x="347583" y="99139"/>
                  <a:pt x="337661" y="109061"/>
                </a:cubicBezTo>
                <a:close/>
                <a:moveTo>
                  <a:pt x="119618" y="108982"/>
                </a:moveTo>
                <a:cubicBezTo>
                  <a:pt x="109696" y="99060"/>
                  <a:pt x="93583" y="99060"/>
                  <a:pt x="83661" y="108982"/>
                </a:cubicBezTo>
                <a:lnTo>
                  <a:pt x="7461" y="185182"/>
                </a:lnTo>
                <a:cubicBezTo>
                  <a:pt x="-2461" y="195104"/>
                  <a:pt x="-2461" y="211217"/>
                  <a:pt x="7461" y="221139"/>
                </a:cubicBezTo>
                <a:lnTo>
                  <a:pt x="83661" y="297339"/>
                </a:lnTo>
                <a:cubicBezTo>
                  <a:pt x="93583" y="307261"/>
                  <a:pt x="109696" y="307261"/>
                  <a:pt x="119618" y="297339"/>
                </a:cubicBezTo>
                <a:cubicBezTo>
                  <a:pt x="129540" y="287417"/>
                  <a:pt x="129540" y="271304"/>
                  <a:pt x="119618" y="261382"/>
                </a:cubicBezTo>
                <a:lnTo>
                  <a:pt x="61357" y="203200"/>
                </a:lnTo>
                <a:lnTo>
                  <a:pt x="119539" y="144939"/>
                </a:lnTo>
                <a:cubicBezTo>
                  <a:pt x="129461" y="135017"/>
                  <a:pt x="129461" y="118904"/>
                  <a:pt x="119539" y="10898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1651000" y="2159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9500" y="2794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components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the Next.js framework, providing a dynamic and responsive interface.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calls handle token insertion, status updates, and data retrieval.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382000" y="19050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82000" y="1905000"/>
            <a:ext cx="50800" cy="304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Shape 19"/>
          <p:cNvSpPr/>
          <p:nvPr/>
        </p:nvSpPr>
        <p:spPr>
          <a:xfrm>
            <a:off x="8724900" y="215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9271000" y="2159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99500" y="2794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serves as the backend service, enabling seamless interaction with the database.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data synchronization ensures immediate UI updates.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5334000"/>
            <a:ext cx="14732000" cy="3048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26" name="Shape 23"/>
          <p:cNvSpPr/>
          <p:nvPr/>
        </p:nvSpPr>
        <p:spPr>
          <a:xfrm>
            <a:off x="1143000" y="565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1778000" y="5651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Admin Dashboard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43000" y="6350000"/>
            <a:ext cx="1397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admin dashboard allows administrators to view the current queue, call the next token, mark tokens as completed, and access the history of completed tokens.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operations are performed in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time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improving efficiency and accuracy.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0"/>
          </a:xfrm>
          <a:prstGeom prst="rect">
            <a:avLst/>
          </a:prstGeom>
          <a:solidFill>
            <a:srgbClr val="1A2B4C"/>
          </a:solidFill>
          <a:ln/>
        </p:spPr>
      </p:sp>
      <p:pic>
        <p:nvPicPr>
          <p:cNvPr id="3" name="Image 0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889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Abstract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48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26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04000" y="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90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14000" y="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192000" y="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224000" y="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4224000" y="635000"/>
            <a:ext cx="1524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spc="200" kern="0" dirty="0">
                <a:solidFill>
                  <a:srgbClr val="1A2B4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Future Scope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762000" y="1460500"/>
            <a:ext cx="101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1905000"/>
            <a:ext cx="7112000" cy="508000"/>
          </a:xfrm>
          <a:prstGeom prst="rect">
            <a:avLst/>
          </a:prstGeom>
          <a:solidFill>
            <a:srgbClr val="1A2B4C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1905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2667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overcrowding in college offices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Improves efficiency by automating queue management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transparency with queue tracking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Maintains digital records for analysis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Enhances user experience for students and staff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1905000"/>
            <a:ext cx="7112000" cy="50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8382000" y="1905000"/>
            <a:ext cx="711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36000" y="2667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SMS and email notifications for students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Advanced filtering and search in history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Analytics dashboard for performance monitoring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Mobile application for easier access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74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Integration with college authentication systems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37680b9eab163c4da0f3bc03f0583e34e7ed9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2B4C">
                  <a:alpha val="91000"/>
                </a:srgbClr>
              </a:gs>
              <a:gs pos="50000">
                <a:srgbClr val="1A2B4C">
                  <a:alpha val="82000"/>
                </a:srgbClr>
              </a:gs>
              <a:gs pos="100000">
                <a:srgbClr val="1A2B4C">
                  <a:alpha val="56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2540000" y="2286000"/>
            <a:ext cx="1117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4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23000" y="3683000"/>
            <a:ext cx="381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3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spc="3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QUEUE MANAGEMENT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540000" y="4953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Jyothi Harshini M | S Divyasri | P Janaki | PV Lalitha Mani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40000" y="5461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40000" y="5969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Pragati Engineering College</a:t>
            </a:r>
            <a:endParaRPr lang="en-US" sz="1600" dirty="0"/>
          </a:p>
        </p:txBody>
      </p:sp>
      <p:pic>
        <p:nvPicPr>
          <p:cNvPr id="10" name="Image 1" descr="https://kimi-img.moonshot.cn/pub/slides/okc/3h3kubfyty2ug/mnt/agents/output/coqms/images/5_Pragati_Engineering_College_in_Surampalem.png">    </p:cNvPr>
          <p:cNvPicPr>
            <a:picLocks noChangeAspect="1"/>
          </p:cNvPicPr>
          <p:nvPr/>
        </p:nvPicPr>
        <p:blipFill>
          <a:blip r:embed="rId2"/>
          <a:srcRect l="-10000" r="-10000" t="0" b="0"/>
          <a:stretch/>
        </p:blipFill>
        <p:spPr>
          <a:xfrm>
            <a:off x="7175500" y="6731000"/>
            <a:ext cx="1905000" cy="1524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 Management System for College Offices</dc:title>
  <dc:subject>Queue Management System for College Offices</dc:subject>
  <dc:creator>Kimi</dc:creator>
  <cp:lastModifiedBy>Kimi</cp:lastModifiedBy>
  <cp:revision>1</cp:revision>
  <dcterms:created xsi:type="dcterms:W3CDTF">2026-04-27T17:05:09Z</dcterms:created>
  <dcterms:modified xsi:type="dcterms:W3CDTF">2026-04-27T17:05:09Z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{"Label":"Queue Management System for College Offices","ContentProducer":"001191110108MACG2KBH8F10000","ProduceID":"19dcfe24-2722-8171-8000-00007d37210d","ReservedCode1":"","ContentPropagator":"001191110108MACG2KBH8F20000","PropagateID":"19dcfe24-2722-8171-8000-00007d37210d","ReservedCode2":""}</vt:lpwstr>
  </property>
</Properties>
</file>